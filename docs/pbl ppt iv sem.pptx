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03170-222A-9CDA-B32B-A360FE195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686D9-74B8-9AD7-E483-3F9687723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0375-700B-B970-A1DA-63913605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041E8-3A15-71C2-BD2E-4447232C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7A7AF-D7DA-9946-82A5-46B1D096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30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9ACAC-65D0-8690-8617-88A68EEF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B74D8-1DD2-6A8C-269A-D673B5CD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81447-729C-2E3F-FAD8-1CE556960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FBC59-EF31-B17D-B6D3-4410A4D4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3BFBB-A2E9-39E9-43B0-A734859C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34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5C38-6560-32AA-8729-25F019D9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71008-35B4-4F0A-AA0E-C5E819F33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1173-8D5A-AA42-F944-1E76CC0E1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EAF4C-FEF5-F982-A6FC-3CEB6CEAB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61AB1-25E5-F6B5-068B-2F6556C3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55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D4AB-C643-9526-5253-28CF8301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E6208-FD39-93BB-57B6-2FFC5F6D4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3A7B-C672-A4C3-E1EC-40054549F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427F4-ECF1-B034-DBCC-135357D47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7A069-C490-8366-56DC-2177F4C0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4970F-B7F2-7D69-55F0-9E30495C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99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EE09-37BB-726F-2FD5-B5B6A20D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A1518-03AA-78B1-6B1D-0450C4480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8E312-4E0E-11AB-CE87-8C2DB11D9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AB0601-4559-4F47-4502-9843F0DFF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28BE1-4908-1BA2-869C-19E640A01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75A2BE-1354-F491-F987-734289049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C27678-BF39-3D8B-EF81-E551CFDF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1CC5B8-A767-B48E-1DEE-42ADE782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11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6D747-4500-D89C-601A-C8FEDE3E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FD4C9-5131-9E30-802D-4980B6B82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68C2A-4F13-1D7B-0219-A1CFF3C2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FA2D0-533D-943F-E495-B98B9BC0A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11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19BAE2-7A2F-75FB-CCDF-43D723A9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C30C8-7449-E484-3DEE-E26A4B92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16812-5110-9D68-70FD-5B9A2E5AA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449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23C6-510B-5140-6438-1B9B37D2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BC61-D2EC-847B-03B1-D0EC25AF1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46679-2952-3FEB-35D5-1D9AE2F90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46965-7D4C-A0D7-DB96-28AA1E52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BE39B-0F28-C505-5482-CBF5C430C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2FD0B-D423-B112-BF4F-892C3F37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306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87898-D38E-2B16-086C-9090B309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63E12E-73E7-0CFE-B58F-2EA12141DC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C4094-C1DA-492D-EB4A-45CBA1E05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3C120-64C1-5022-11AD-1B66C55D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C3E14-E69A-7C26-CBC5-B346118B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6D5BE-4477-7DA0-18A7-C956C21B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19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A0F4-C32F-5C8C-C831-7DB50B2EB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C9257-E546-480F-1485-6836AF416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8D891-5E6D-68E2-F8B3-E30566C0E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9F602-F440-CD1D-81C6-8F38A4A2D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EEB48-DF06-3A91-238C-0452262A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76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D447F-1D9A-84B8-DBD0-0B4C73023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14A44-1DC2-026B-4280-7473D7E48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C0CC0-65CC-8E64-4783-3EC2ACD2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53ED5-0794-84EB-9EEF-FD5574BAB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4EFC8-FF5D-4348-BF68-E00EFB6E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12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71D0D6-2450-1FC0-1C2D-A7789F356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D2220-5780-1E91-894A-FB222369D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9B0EF-BF5D-7925-D8BE-D0C93609E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D4EA3-025D-4205-9FE5-EB1B43880BE6}" type="datetimeFigureOut">
              <a:rPr lang="en-IN" smtClean="0"/>
              <a:t>12-05-2026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559DB-BDD1-D9F4-F197-2BDAAC6CA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F6BC9-CE52-BD77-A2A9-556999E686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9103D-5815-47A1-ACAC-4AC6B7C75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92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7D7A9-95EA-B9D3-C92C-40408D513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281483" cy="1635854"/>
          </a:xfrm>
        </p:spPr>
        <p:txBody>
          <a:bodyPr>
            <a:normAutofit/>
          </a:bodyPr>
          <a:lstStyle/>
          <a:p>
            <a:r>
              <a:rPr lang="en-IN" sz="2200" b="1" dirty="0">
                <a:latin typeface="Arial Black" panose="020B0A04020102020204" pitchFamily="34" charset="0"/>
              </a:rPr>
              <a:t>                      Department of Electronics &amp; Communication  Engineering</a:t>
            </a:r>
            <a:br>
              <a:rPr lang="en-IN" b="1" dirty="0">
                <a:latin typeface="Arial Black" panose="020B0A04020102020204" pitchFamily="34" charset="0"/>
              </a:rPr>
            </a:br>
            <a:endParaRPr lang="en-IN" dirty="0"/>
          </a:p>
        </p:txBody>
      </p:sp>
      <p:pic>
        <p:nvPicPr>
          <p:cNvPr id="4" name="Picture 3" descr="A logo with a statue of a person holding flowers&#10;&#10;AI-generated content may be incorrect.">
            <a:extLst>
              <a:ext uri="{FF2B5EF4-FFF2-40B4-BE49-F238E27FC236}">
                <a16:creationId xmlns:a16="http://schemas.microsoft.com/office/drawing/2014/main" id="{8B8041AA-EB57-030A-104A-66691D963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913" y="163010"/>
            <a:ext cx="1628342" cy="1483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A2588C-8669-0466-3D36-3E301A3A36E2}"/>
              </a:ext>
            </a:extLst>
          </p:cNvPr>
          <p:cNvSpPr txBox="1"/>
          <p:nvPr/>
        </p:nvSpPr>
        <p:spPr>
          <a:xfrm>
            <a:off x="78377" y="2204706"/>
            <a:ext cx="12586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TOPIC: "FPGA Implementation of Rate 1/2 Convolutional Encoder for UART Based Serial Data                   Transmission" </a:t>
            </a:r>
            <a:endParaRPr lang="en-IN" sz="24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344E6E3-EF1F-34BB-FDF9-5376B60D5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119432"/>
              </p:ext>
            </p:extLst>
          </p:nvPr>
        </p:nvGraphicFramePr>
        <p:xfrm>
          <a:off x="2717074" y="4014651"/>
          <a:ext cx="6435635" cy="2342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647">
                  <a:extLst>
                    <a:ext uri="{9D8B030D-6E8A-4147-A177-3AD203B41FA5}">
                      <a16:colId xmlns:a16="http://schemas.microsoft.com/office/drawing/2014/main" val="1160757296"/>
                    </a:ext>
                  </a:extLst>
                </a:gridCol>
                <a:gridCol w="3233988">
                  <a:extLst>
                    <a:ext uri="{9D8B030D-6E8A-4147-A177-3AD203B41FA5}">
                      <a16:colId xmlns:a16="http://schemas.microsoft.com/office/drawing/2014/main" val="2497789573"/>
                    </a:ext>
                  </a:extLst>
                </a:gridCol>
              </a:tblGrid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208409"/>
                  </a:ext>
                </a:extLst>
              </a:tr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Ibrahim Affan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4SO24EC046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091881"/>
                  </a:ext>
                </a:extLst>
              </a:tr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Kaushik N(Leader)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4SO24EC058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60540"/>
                  </a:ext>
                </a:extLst>
              </a:tr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Kruthi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Kundalpady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4SO24EC060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07318"/>
                  </a:ext>
                </a:extLst>
              </a:tr>
              <a:tr h="468521"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Lereina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Reemal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Pashan</a:t>
                      </a:r>
                      <a:r>
                        <a:rPr lang="en-IN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4SO24EC061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030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465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8C95-21F1-3EB3-6C34-42254E60E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30" y="424120"/>
            <a:ext cx="8647612" cy="1045664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man Old Style" panose="02050604050505020204" pitchFamily="18" charset="0"/>
                <a:cs typeface="Arial" panose="020B0604020202020204" pitchFamily="34" charset="0"/>
              </a:rPr>
              <a:t>Problem Statement</a:t>
            </a:r>
            <a:r>
              <a:rPr lang="en-IN" sz="2400" b="1" dirty="0">
                <a:latin typeface="Bookman Old Style" panose="02050604050505020204" pitchFamily="18" charset="0"/>
                <a:cs typeface="Arial" panose="020B0604020202020204" pitchFamily="34" charset="0"/>
              </a:rPr>
              <a:t>: 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23A26-92FB-4820-5243-EF9B1B5E6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Digital data transmitted over noisy wireless channels — such as in Bluetooth, satellite, and rural communication systems — is highly susceptible to bit errors, leading to data corruption and communication failure. While error-control coding techniques exist to address this, software-based implementations are too slow for real-time applications. This project aims to develop a hardware-based convolutional encoder on FPGA with a real serial (UART) interface, enabling fast, reliable, and deployment-ready error correction for noisy digital communication channels.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06855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E6C8AE-10ED-29B9-9E3E-9A6401AE09FB}"/>
              </a:ext>
            </a:extLst>
          </p:cNvPr>
          <p:cNvSpPr txBox="1"/>
          <p:nvPr/>
        </p:nvSpPr>
        <p:spPr>
          <a:xfrm>
            <a:off x="766917" y="442451"/>
            <a:ext cx="10342131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Planning</a:t>
            </a:r>
          </a:p>
          <a:p>
            <a:pPr>
              <a:buNone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April 9 – Started searching for research papers on Hamming Encoder, but we could not find any suitable papers.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April 16 – Decided to change the topic and selected Convolution Encoder after referring to other research papers.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April 20 – Started working with the selected research paper.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April 29 – Work was divided among the team members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Started working on the architecture and block diagram first.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May 2 – Project work completed and submitted.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9961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92ADF-6559-AA62-1916-53C3B79C2A4A}"/>
              </a:ext>
            </a:extLst>
          </p:cNvPr>
          <p:cNvSpPr txBox="1"/>
          <p:nvPr/>
        </p:nvSpPr>
        <p:spPr>
          <a:xfrm>
            <a:off x="95794" y="0"/>
            <a:ext cx="12000411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/>
          </a:p>
          <a:p>
            <a:endParaRPr lang="en-US" sz="2000" b="1" dirty="0"/>
          </a:p>
          <a:p>
            <a:r>
              <a:rPr lang="en-US" sz="2400" b="1" dirty="0"/>
              <a:t>  </a:t>
            </a:r>
            <a:r>
              <a:rPr lang="en-US" sz="3200" b="1" dirty="0"/>
              <a:t>Objectives: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Design and implement a rate 1/2 convolutional encoder with constraint length K = 3 using generator polynomials g1 = 111 and g2 = 101 on FPGA.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a UART module to take serial input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Implement the encoder using a shift register and XOR logic.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Convert the encoded output bits into serial form so they can be transmitted through the UART module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 Test the design using simulation (</a:t>
            </a:r>
            <a:r>
              <a:rPr lang="en-US" sz="2400" dirty="0" err="1"/>
              <a:t>Vivado</a:t>
            </a:r>
            <a:r>
              <a:rPr lang="en-US" sz="2400" dirty="0"/>
              <a:t>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13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786F503-7797-48EE-BE0D-DAB5706F3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993802"/>
              </p:ext>
            </p:extLst>
          </p:nvPr>
        </p:nvGraphicFramePr>
        <p:xfrm>
          <a:off x="1484671" y="1189703"/>
          <a:ext cx="8947355" cy="5244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471">
                  <a:extLst>
                    <a:ext uri="{9D8B030D-6E8A-4147-A177-3AD203B41FA5}">
                      <a16:colId xmlns:a16="http://schemas.microsoft.com/office/drawing/2014/main" val="3528960031"/>
                    </a:ext>
                  </a:extLst>
                </a:gridCol>
                <a:gridCol w="1789471">
                  <a:extLst>
                    <a:ext uri="{9D8B030D-6E8A-4147-A177-3AD203B41FA5}">
                      <a16:colId xmlns:a16="http://schemas.microsoft.com/office/drawing/2014/main" val="4037854116"/>
                    </a:ext>
                  </a:extLst>
                </a:gridCol>
                <a:gridCol w="1789471">
                  <a:extLst>
                    <a:ext uri="{9D8B030D-6E8A-4147-A177-3AD203B41FA5}">
                      <a16:colId xmlns:a16="http://schemas.microsoft.com/office/drawing/2014/main" val="4028676770"/>
                    </a:ext>
                  </a:extLst>
                </a:gridCol>
                <a:gridCol w="1789471">
                  <a:extLst>
                    <a:ext uri="{9D8B030D-6E8A-4147-A177-3AD203B41FA5}">
                      <a16:colId xmlns:a16="http://schemas.microsoft.com/office/drawing/2014/main" val="2674026608"/>
                    </a:ext>
                  </a:extLst>
                </a:gridCol>
                <a:gridCol w="1789471">
                  <a:extLst>
                    <a:ext uri="{9D8B030D-6E8A-4147-A177-3AD203B41FA5}">
                      <a16:colId xmlns:a16="http://schemas.microsoft.com/office/drawing/2014/main" val="1912041985"/>
                    </a:ext>
                  </a:extLst>
                </a:gridCol>
              </a:tblGrid>
              <a:tr h="66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Throughput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Area (Resource Usage)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863998"/>
                  </a:ext>
                </a:extLst>
              </a:tr>
              <a:tr h="943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Paper 1 (Sun &amp; Ding, 2012)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adix-2, Full parallel ACS, K=7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 Mbps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</a:t>
                      </a:r>
                      <a:r>
                        <a:rPr lang="en-IN" dirty="0"/>
                        <a:t>316 slices, 510 LUTs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memory design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983486"/>
                  </a:ext>
                </a:extLst>
              </a:tr>
              <a:tr h="1226256">
                <a:tc>
                  <a:txBody>
                    <a:bodyPr/>
                    <a:lstStyle/>
                    <a:p>
                      <a:r>
                        <a:rPr lang="en-IN" dirty="0"/>
                        <a:t>Paper 2 (Wong et al., 2009)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Radix-2, Adaptive </a:t>
                      </a:r>
                      <a:r>
                        <a:rPr lang="fr-FR" dirty="0" err="1"/>
                        <a:t>Viterbi</a:t>
                      </a:r>
                      <a:r>
                        <a:rPr lang="fr-FR" dirty="0"/>
                        <a:t>, K=3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Not specified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 (~866 slices)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 error correction, no throughput data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4363276"/>
                  </a:ext>
                </a:extLst>
              </a:tr>
              <a:tr h="1226256">
                <a:tc>
                  <a:txBody>
                    <a:bodyPr/>
                    <a:lstStyle/>
                    <a:p>
                      <a:r>
                        <a:rPr lang="da-DK" dirty="0"/>
                        <a:t>Paper 3 (Kavinilavu et al., 2011)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Standard Viterbi, K=7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Not specified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 (~325 slices encoder)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speed/power analysis, high I/O usage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011280"/>
                  </a:ext>
                </a:extLst>
              </a:tr>
              <a:tr h="1186495">
                <a:tc>
                  <a:txBody>
                    <a:bodyPr/>
                    <a:lstStyle/>
                    <a:p>
                      <a:r>
                        <a:rPr lang="nb-NO" dirty="0"/>
                        <a:t>Paper 4 (Soreng &amp; Kumar, 2013)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Area-optimized VLSI, K=7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Not specified 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Very high (decoder ~7991 ALUTs)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Large decoder area, no throughput/power data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09497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AAD5315-458D-4A1E-640C-FF908B430B10}"/>
              </a:ext>
            </a:extLst>
          </p:cNvPr>
          <p:cNvSpPr txBox="1"/>
          <p:nvPr/>
        </p:nvSpPr>
        <p:spPr>
          <a:xfrm>
            <a:off x="1366684" y="423499"/>
            <a:ext cx="382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Comparative Analysis </a:t>
            </a:r>
          </a:p>
        </p:txBody>
      </p:sp>
    </p:spTree>
    <p:extLst>
      <p:ext uri="{BB962C8B-B14F-4D97-AF65-F5344CB8AC3E}">
        <p14:creationId xmlns:p14="http://schemas.microsoft.com/office/powerpoint/2010/main" val="408972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200AD-C219-43AB-B6CD-D4DBB69E3B48}"/>
              </a:ext>
            </a:extLst>
          </p:cNvPr>
          <p:cNvSpPr txBox="1"/>
          <p:nvPr/>
        </p:nvSpPr>
        <p:spPr>
          <a:xfrm>
            <a:off x="1150374" y="1199535"/>
            <a:ext cx="1060900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Research Gap Identification </a:t>
            </a:r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existing designs optimize either speed or area, but not both together.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consumption analysis is missing in most of the works.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designs use low constraint length (K=3), which is not suitable for modern communication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need for a design that is balanced, efficient, and practical for FPGA implementation.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1041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4FB295-3079-020A-819C-F827CDF44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10" y="1691148"/>
            <a:ext cx="8504903" cy="26944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78AC69-F966-5D39-19AE-04732450FAB7}"/>
              </a:ext>
            </a:extLst>
          </p:cNvPr>
          <p:cNvSpPr txBox="1"/>
          <p:nvPr/>
        </p:nvSpPr>
        <p:spPr>
          <a:xfrm>
            <a:off x="1425677" y="589935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Block Diagram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A2458A-180A-FBCB-A01F-64E55C1770A6}"/>
              </a:ext>
            </a:extLst>
          </p:cNvPr>
          <p:cNvSpPr txBox="1"/>
          <p:nvPr/>
        </p:nvSpPr>
        <p:spPr>
          <a:xfrm>
            <a:off x="2084438" y="5166852"/>
            <a:ext cx="751532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By toggling </a:t>
            </a:r>
            <a:r>
              <a:rPr lang="en-US" dirty="0" err="1"/>
              <a:t>sel</a:t>
            </a:r>
            <a:r>
              <a:rPr lang="en-US" dirty="0"/>
              <a:t> every clock cycle, the two parallel bits come out one by 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sel</a:t>
            </a:r>
            <a:r>
              <a:rPr lang="en-US" dirty="0"/>
              <a:t>=0 → outputs n0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sel</a:t>
            </a:r>
            <a:r>
              <a:rPr lang="en-US" dirty="0"/>
              <a:t>=1 → outputs n1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190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B3A70C0-8BF3-EF31-22AF-C3B242F98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021" y="1037149"/>
            <a:ext cx="8724900" cy="56292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16587D-9EEF-AB9E-DBE9-5DC500477FFD}"/>
              </a:ext>
            </a:extLst>
          </p:cNvPr>
          <p:cNvSpPr txBox="1"/>
          <p:nvPr/>
        </p:nvSpPr>
        <p:spPr>
          <a:xfrm>
            <a:off x="1101214" y="353962"/>
            <a:ext cx="3318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2776405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DBAC7-977D-AEA3-7B7F-4B05D24D880C}"/>
              </a:ext>
            </a:extLst>
          </p:cNvPr>
          <p:cNvSpPr txBox="1"/>
          <p:nvPr/>
        </p:nvSpPr>
        <p:spPr>
          <a:xfrm>
            <a:off x="1153815" y="757085"/>
            <a:ext cx="9946803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Contribution of Team Members</a:t>
            </a:r>
            <a:r>
              <a:rPr lang="en-US" sz="3200" dirty="0"/>
              <a:t>:</a:t>
            </a:r>
          </a:p>
          <a:p>
            <a:endParaRPr lang="en-US" dirty="0"/>
          </a:p>
          <a:p>
            <a:r>
              <a:rPr lang="en-US" sz="2400" dirty="0"/>
              <a:t>Kaushik N-Architecture and block diagram</a:t>
            </a:r>
          </a:p>
          <a:p>
            <a:r>
              <a:rPr lang="en-US" sz="2400" dirty="0"/>
              <a:t>Ibrahim Affan-Research paper analysis</a:t>
            </a:r>
          </a:p>
          <a:p>
            <a:r>
              <a:rPr lang="en-US" sz="2400" dirty="0" err="1"/>
              <a:t>Lereina</a:t>
            </a:r>
            <a:r>
              <a:rPr lang="en-US" sz="2400" dirty="0"/>
              <a:t>-Leaf cell</a:t>
            </a:r>
          </a:p>
          <a:p>
            <a:r>
              <a:rPr lang="en-US" sz="2400" dirty="0"/>
              <a:t>Kruthi </a:t>
            </a:r>
            <a:r>
              <a:rPr lang="en-US" sz="2400" dirty="0" err="1"/>
              <a:t>Kundalpady</a:t>
            </a:r>
            <a:r>
              <a:rPr lang="en-US" sz="2400" dirty="0"/>
              <a:t>-Leaf cell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3200" b="1" dirty="0"/>
          </a:p>
          <a:p>
            <a:endParaRPr lang="en-US" sz="3200" b="1" dirty="0"/>
          </a:p>
          <a:p>
            <a:r>
              <a:rPr lang="en-US" sz="3200" b="1" dirty="0"/>
              <a:t>Repository Link:</a:t>
            </a:r>
          </a:p>
          <a:p>
            <a:r>
              <a:rPr lang="en-US" sz="2400" dirty="0"/>
              <a:t>https://github.com/kaushikulal/convolutional-encoder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25363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562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Bookman Old Style</vt:lpstr>
      <vt:lpstr>Calibri</vt:lpstr>
      <vt:lpstr>Calibri Light</vt:lpstr>
      <vt:lpstr>Office Theme</vt:lpstr>
      <vt:lpstr>                      Department of Electronics &amp; Communication  Engineering </vt:lpstr>
      <vt:lpstr>Problem Statement: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KRUTHI KUNDALPADY</dc:creator>
  <cp:lastModifiedBy>kaushikulal14@outlook.com</cp:lastModifiedBy>
  <cp:revision>6</cp:revision>
  <dcterms:created xsi:type="dcterms:W3CDTF">2026-05-12T04:23:14Z</dcterms:created>
  <dcterms:modified xsi:type="dcterms:W3CDTF">2026-05-12T09:16:43Z</dcterms:modified>
</cp:coreProperties>
</file>